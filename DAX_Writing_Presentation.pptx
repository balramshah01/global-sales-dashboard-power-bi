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EAAEB2-332D-44DB-8F45-140D53ADBAA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09D4508-E599-4B96-A5C6-E837124617BB}">
      <dgm:prSet/>
      <dgm:spPr/>
      <dgm:t>
        <a:bodyPr/>
        <a:lstStyle/>
        <a:p>
          <a:r>
            <a:rPr lang="en-US"/>
            <a:t>DAX Writing Overview</a:t>
          </a:r>
        </a:p>
      </dgm:t>
    </dgm:pt>
    <dgm:pt modelId="{F92DC031-07FA-436A-838C-1524E8B551E8}" type="parTrans" cxnId="{C18A3FBA-D9AD-4A5C-B6CE-938C9543CBAD}">
      <dgm:prSet/>
      <dgm:spPr/>
      <dgm:t>
        <a:bodyPr/>
        <a:lstStyle/>
        <a:p>
          <a:endParaRPr lang="en-US"/>
        </a:p>
      </dgm:t>
    </dgm:pt>
    <dgm:pt modelId="{A37D5806-90F2-4018-AB5D-16339DC7CBF0}" type="sibTrans" cxnId="{C18A3FBA-D9AD-4A5C-B6CE-938C9543CBAD}">
      <dgm:prSet/>
      <dgm:spPr/>
      <dgm:t>
        <a:bodyPr/>
        <a:lstStyle/>
        <a:p>
          <a:endParaRPr lang="en-US"/>
        </a:p>
      </dgm:t>
    </dgm:pt>
    <dgm:pt modelId="{12B5E89E-7DC4-4348-85BD-67A82C89A1B7}">
      <dgm:prSet/>
      <dgm:spPr/>
      <dgm:t>
        <a:bodyPr/>
        <a:lstStyle/>
        <a:p>
          <a:r>
            <a:rPr lang="en-US" dirty="0"/>
            <a:t>Presented by: Balram Shah</a:t>
          </a:r>
        </a:p>
      </dgm:t>
    </dgm:pt>
    <dgm:pt modelId="{2639028F-3C2B-4BE3-B803-83B5133DAFC4}" type="parTrans" cxnId="{DB2E0FCF-EB2A-4288-B697-A8ED2DD3B398}">
      <dgm:prSet/>
      <dgm:spPr/>
      <dgm:t>
        <a:bodyPr/>
        <a:lstStyle/>
        <a:p>
          <a:endParaRPr lang="en-US"/>
        </a:p>
      </dgm:t>
    </dgm:pt>
    <dgm:pt modelId="{E4480798-6A36-4BA5-B59E-21A6FCC47409}" type="sibTrans" cxnId="{DB2E0FCF-EB2A-4288-B697-A8ED2DD3B398}">
      <dgm:prSet/>
      <dgm:spPr/>
      <dgm:t>
        <a:bodyPr/>
        <a:lstStyle/>
        <a:p>
          <a:endParaRPr lang="en-US"/>
        </a:p>
      </dgm:t>
    </dgm:pt>
    <dgm:pt modelId="{E14805AE-FBB1-4684-935F-F9EC9169C915}">
      <dgm:prSet/>
      <dgm:spPr/>
      <dgm:t>
        <a:bodyPr/>
        <a:lstStyle/>
        <a:p>
          <a:r>
            <a:rPr lang="en-US"/>
            <a:t>Project: Power BI Global Sales Analytics</a:t>
          </a:r>
        </a:p>
      </dgm:t>
    </dgm:pt>
    <dgm:pt modelId="{7B4AADAE-2A07-42A7-BD13-8DCF6CEF657E}" type="parTrans" cxnId="{04BBE1D5-4D5B-405E-9522-D16B77351973}">
      <dgm:prSet/>
      <dgm:spPr/>
      <dgm:t>
        <a:bodyPr/>
        <a:lstStyle/>
        <a:p>
          <a:endParaRPr lang="en-US"/>
        </a:p>
      </dgm:t>
    </dgm:pt>
    <dgm:pt modelId="{AD1F21EC-E4AD-4204-9AE1-7490DDD5E604}" type="sibTrans" cxnId="{04BBE1D5-4D5B-405E-9522-D16B77351973}">
      <dgm:prSet/>
      <dgm:spPr/>
      <dgm:t>
        <a:bodyPr/>
        <a:lstStyle/>
        <a:p>
          <a:endParaRPr lang="en-US"/>
        </a:p>
      </dgm:t>
    </dgm:pt>
    <dgm:pt modelId="{0EE89C4E-05C8-4EA6-A14D-D80DD9113DFE}" type="pres">
      <dgm:prSet presAssocID="{AFEAAEB2-332D-44DB-8F45-140D53ADBAA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35E342E-E9E8-4909-8AA8-1CBE66547990}" type="pres">
      <dgm:prSet presAssocID="{D09D4508-E599-4B96-A5C6-E837124617BB}" presName="hierRoot1" presStyleCnt="0"/>
      <dgm:spPr/>
    </dgm:pt>
    <dgm:pt modelId="{3BEB41CD-7FD0-4777-8E12-D81AB350C692}" type="pres">
      <dgm:prSet presAssocID="{D09D4508-E599-4B96-A5C6-E837124617BB}" presName="composite" presStyleCnt="0"/>
      <dgm:spPr/>
    </dgm:pt>
    <dgm:pt modelId="{E6E15423-D1AE-4989-B1B2-F0E204604BA5}" type="pres">
      <dgm:prSet presAssocID="{D09D4508-E599-4B96-A5C6-E837124617BB}" presName="background" presStyleLbl="node0" presStyleIdx="0" presStyleCnt="3"/>
      <dgm:spPr/>
    </dgm:pt>
    <dgm:pt modelId="{615E128D-00BC-4F52-A2E8-3566F2506EDD}" type="pres">
      <dgm:prSet presAssocID="{D09D4508-E599-4B96-A5C6-E837124617BB}" presName="text" presStyleLbl="fgAcc0" presStyleIdx="0" presStyleCnt="3">
        <dgm:presLayoutVars>
          <dgm:chPref val="3"/>
        </dgm:presLayoutVars>
      </dgm:prSet>
      <dgm:spPr/>
    </dgm:pt>
    <dgm:pt modelId="{B8C60ED7-A845-4B09-8CBE-CE0ACDB5F444}" type="pres">
      <dgm:prSet presAssocID="{D09D4508-E599-4B96-A5C6-E837124617BB}" presName="hierChild2" presStyleCnt="0"/>
      <dgm:spPr/>
    </dgm:pt>
    <dgm:pt modelId="{772F8896-7EC7-43A8-8641-77DC17B3A58F}" type="pres">
      <dgm:prSet presAssocID="{12B5E89E-7DC4-4348-85BD-67A82C89A1B7}" presName="hierRoot1" presStyleCnt="0"/>
      <dgm:spPr/>
    </dgm:pt>
    <dgm:pt modelId="{F4B90AAF-419D-4FEF-93EF-C6A226CE431B}" type="pres">
      <dgm:prSet presAssocID="{12B5E89E-7DC4-4348-85BD-67A82C89A1B7}" presName="composite" presStyleCnt="0"/>
      <dgm:spPr/>
    </dgm:pt>
    <dgm:pt modelId="{247B7130-EF23-47E9-A830-EDF64D6E51F4}" type="pres">
      <dgm:prSet presAssocID="{12B5E89E-7DC4-4348-85BD-67A82C89A1B7}" presName="background" presStyleLbl="node0" presStyleIdx="1" presStyleCnt="3"/>
      <dgm:spPr/>
    </dgm:pt>
    <dgm:pt modelId="{055F48CF-52FD-4015-8514-C26A8BE78EEB}" type="pres">
      <dgm:prSet presAssocID="{12B5E89E-7DC4-4348-85BD-67A82C89A1B7}" presName="text" presStyleLbl="fgAcc0" presStyleIdx="1" presStyleCnt="3">
        <dgm:presLayoutVars>
          <dgm:chPref val="3"/>
        </dgm:presLayoutVars>
      </dgm:prSet>
      <dgm:spPr/>
    </dgm:pt>
    <dgm:pt modelId="{0DCBB140-6461-4CA9-877E-05FC9EF7A004}" type="pres">
      <dgm:prSet presAssocID="{12B5E89E-7DC4-4348-85BD-67A82C89A1B7}" presName="hierChild2" presStyleCnt="0"/>
      <dgm:spPr/>
    </dgm:pt>
    <dgm:pt modelId="{A134E937-A22D-4302-BD6C-1A11881D763A}" type="pres">
      <dgm:prSet presAssocID="{E14805AE-FBB1-4684-935F-F9EC9169C915}" presName="hierRoot1" presStyleCnt="0"/>
      <dgm:spPr/>
    </dgm:pt>
    <dgm:pt modelId="{075F0EE7-641D-469B-A4CB-F1F95371550E}" type="pres">
      <dgm:prSet presAssocID="{E14805AE-FBB1-4684-935F-F9EC9169C915}" presName="composite" presStyleCnt="0"/>
      <dgm:spPr/>
    </dgm:pt>
    <dgm:pt modelId="{D75B8155-F85F-4947-8375-8F3C0E01281B}" type="pres">
      <dgm:prSet presAssocID="{E14805AE-FBB1-4684-935F-F9EC9169C915}" presName="background" presStyleLbl="node0" presStyleIdx="2" presStyleCnt="3"/>
      <dgm:spPr/>
    </dgm:pt>
    <dgm:pt modelId="{4A0D4FA0-EC44-41B4-8699-103443EF9FD0}" type="pres">
      <dgm:prSet presAssocID="{E14805AE-FBB1-4684-935F-F9EC9169C915}" presName="text" presStyleLbl="fgAcc0" presStyleIdx="2" presStyleCnt="3">
        <dgm:presLayoutVars>
          <dgm:chPref val="3"/>
        </dgm:presLayoutVars>
      </dgm:prSet>
      <dgm:spPr/>
    </dgm:pt>
    <dgm:pt modelId="{B8AE18B4-F8AA-4EAA-A581-8EE30AAB39F0}" type="pres">
      <dgm:prSet presAssocID="{E14805AE-FBB1-4684-935F-F9EC9169C915}" presName="hierChild2" presStyleCnt="0"/>
      <dgm:spPr/>
    </dgm:pt>
  </dgm:ptLst>
  <dgm:cxnLst>
    <dgm:cxn modelId="{8126A41C-7CDA-4ADF-B154-8F05C4DCD054}" type="presOf" srcId="{AFEAAEB2-332D-44DB-8F45-140D53ADBAAA}" destId="{0EE89C4E-05C8-4EA6-A14D-D80DD9113DFE}" srcOrd="0" destOrd="0" presId="urn:microsoft.com/office/officeart/2005/8/layout/hierarchy1"/>
    <dgm:cxn modelId="{1745AB72-7C0E-4B1B-BD70-A8617B00A06C}" type="presOf" srcId="{D09D4508-E599-4B96-A5C6-E837124617BB}" destId="{615E128D-00BC-4F52-A2E8-3566F2506EDD}" srcOrd="0" destOrd="0" presId="urn:microsoft.com/office/officeart/2005/8/layout/hierarchy1"/>
    <dgm:cxn modelId="{CC1F56A7-2FAE-4DD5-A6D8-C630F1B98948}" type="presOf" srcId="{12B5E89E-7DC4-4348-85BD-67A82C89A1B7}" destId="{055F48CF-52FD-4015-8514-C26A8BE78EEB}" srcOrd="0" destOrd="0" presId="urn:microsoft.com/office/officeart/2005/8/layout/hierarchy1"/>
    <dgm:cxn modelId="{42A8FAAD-72CF-4891-B39B-DFCCE0D61A58}" type="presOf" srcId="{E14805AE-FBB1-4684-935F-F9EC9169C915}" destId="{4A0D4FA0-EC44-41B4-8699-103443EF9FD0}" srcOrd="0" destOrd="0" presId="urn:microsoft.com/office/officeart/2005/8/layout/hierarchy1"/>
    <dgm:cxn modelId="{C18A3FBA-D9AD-4A5C-B6CE-938C9543CBAD}" srcId="{AFEAAEB2-332D-44DB-8F45-140D53ADBAAA}" destId="{D09D4508-E599-4B96-A5C6-E837124617BB}" srcOrd="0" destOrd="0" parTransId="{F92DC031-07FA-436A-838C-1524E8B551E8}" sibTransId="{A37D5806-90F2-4018-AB5D-16339DC7CBF0}"/>
    <dgm:cxn modelId="{DB2E0FCF-EB2A-4288-B697-A8ED2DD3B398}" srcId="{AFEAAEB2-332D-44DB-8F45-140D53ADBAAA}" destId="{12B5E89E-7DC4-4348-85BD-67A82C89A1B7}" srcOrd="1" destOrd="0" parTransId="{2639028F-3C2B-4BE3-B803-83B5133DAFC4}" sibTransId="{E4480798-6A36-4BA5-B59E-21A6FCC47409}"/>
    <dgm:cxn modelId="{04BBE1D5-4D5B-405E-9522-D16B77351973}" srcId="{AFEAAEB2-332D-44DB-8F45-140D53ADBAAA}" destId="{E14805AE-FBB1-4684-935F-F9EC9169C915}" srcOrd="2" destOrd="0" parTransId="{7B4AADAE-2A07-42A7-BD13-8DCF6CEF657E}" sibTransId="{AD1F21EC-E4AD-4204-9AE1-7490DDD5E604}"/>
    <dgm:cxn modelId="{616A36EF-006A-4909-BFF2-D905D1F4F65B}" type="presParOf" srcId="{0EE89C4E-05C8-4EA6-A14D-D80DD9113DFE}" destId="{E35E342E-E9E8-4909-8AA8-1CBE66547990}" srcOrd="0" destOrd="0" presId="urn:microsoft.com/office/officeart/2005/8/layout/hierarchy1"/>
    <dgm:cxn modelId="{2A80A003-66AE-473C-AEE8-681D7D04FB03}" type="presParOf" srcId="{E35E342E-E9E8-4909-8AA8-1CBE66547990}" destId="{3BEB41CD-7FD0-4777-8E12-D81AB350C692}" srcOrd="0" destOrd="0" presId="urn:microsoft.com/office/officeart/2005/8/layout/hierarchy1"/>
    <dgm:cxn modelId="{98C5A5E7-06BB-4C10-B74D-FA468576045E}" type="presParOf" srcId="{3BEB41CD-7FD0-4777-8E12-D81AB350C692}" destId="{E6E15423-D1AE-4989-B1B2-F0E204604BA5}" srcOrd="0" destOrd="0" presId="urn:microsoft.com/office/officeart/2005/8/layout/hierarchy1"/>
    <dgm:cxn modelId="{00CED9D0-0B6E-4D96-88DC-3286E772C7F4}" type="presParOf" srcId="{3BEB41CD-7FD0-4777-8E12-D81AB350C692}" destId="{615E128D-00BC-4F52-A2E8-3566F2506EDD}" srcOrd="1" destOrd="0" presId="urn:microsoft.com/office/officeart/2005/8/layout/hierarchy1"/>
    <dgm:cxn modelId="{6AFAD95C-886A-4779-B7E3-571907617B25}" type="presParOf" srcId="{E35E342E-E9E8-4909-8AA8-1CBE66547990}" destId="{B8C60ED7-A845-4B09-8CBE-CE0ACDB5F444}" srcOrd="1" destOrd="0" presId="urn:microsoft.com/office/officeart/2005/8/layout/hierarchy1"/>
    <dgm:cxn modelId="{C661230D-2B6D-47E2-9E71-3209766C295E}" type="presParOf" srcId="{0EE89C4E-05C8-4EA6-A14D-D80DD9113DFE}" destId="{772F8896-7EC7-43A8-8641-77DC17B3A58F}" srcOrd="1" destOrd="0" presId="urn:microsoft.com/office/officeart/2005/8/layout/hierarchy1"/>
    <dgm:cxn modelId="{F6F1E21F-1BE8-4FF8-B8E8-69C28B41C20B}" type="presParOf" srcId="{772F8896-7EC7-43A8-8641-77DC17B3A58F}" destId="{F4B90AAF-419D-4FEF-93EF-C6A226CE431B}" srcOrd="0" destOrd="0" presId="urn:microsoft.com/office/officeart/2005/8/layout/hierarchy1"/>
    <dgm:cxn modelId="{2FF0EEEC-F5E3-4D8F-9049-253339250F35}" type="presParOf" srcId="{F4B90AAF-419D-4FEF-93EF-C6A226CE431B}" destId="{247B7130-EF23-47E9-A830-EDF64D6E51F4}" srcOrd="0" destOrd="0" presId="urn:microsoft.com/office/officeart/2005/8/layout/hierarchy1"/>
    <dgm:cxn modelId="{9F27E085-DC87-40A3-8281-9129479D757D}" type="presParOf" srcId="{F4B90AAF-419D-4FEF-93EF-C6A226CE431B}" destId="{055F48CF-52FD-4015-8514-C26A8BE78EEB}" srcOrd="1" destOrd="0" presId="urn:microsoft.com/office/officeart/2005/8/layout/hierarchy1"/>
    <dgm:cxn modelId="{A41C96CA-AAFC-42C9-96EF-B592D3509ABD}" type="presParOf" srcId="{772F8896-7EC7-43A8-8641-77DC17B3A58F}" destId="{0DCBB140-6461-4CA9-877E-05FC9EF7A004}" srcOrd="1" destOrd="0" presId="urn:microsoft.com/office/officeart/2005/8/layout/hierarchy1"/>
    <dgm:cxn modelId="{72989C33-4476-4C27-9C7B-B0216ED0B09E}" type="presParOf" srcId="{0EE89C4E-05C8-4EA6-A14D-D80DD9113DFE}" destId="{A134E937-A22D-4302-BD6C-1A11881D763A}" srcOrd="2" destOrd="0" presId="urn:microsoft.com/office/officeart/2005/8/layout/hierarchy1"/>
    <dgm:cxn modelId="{C78DBB04-43CE-42F1-AED7-08128714648D}" type="presParOf" srcId="{A134E937-A22D-4302-BD6C-1A11881D763A}" destId="{075F0EE7-641D-469B-A4CB-F1F95371550E}" srcOrd="0" destOrd="0" presId="urn:microsoft.com/office/officeart/2005/8/layout/hierarchy1"/>
    <dgm:cxn modelId="{822C5918-B293-4FF7-AB5B-C8A2C444255C}" type="presParOf" srcId="{075F0EE7-641D-469B-A4CB-F1F95371550E}" destId="{D75B8155-F85F-4947-8375-8F3C0E01281B}" srcOrd="0" destOrd="0" presId="urn:microsoft.com/office/officeart/2005/8/layout/hierarchy1"/>
    <dgm:cxn modelId="{2111DB5D-B3BF-4B56-8781-98D7445ECE0A}" type="presParOf" srcId="{075F0EE7-641D-469B-A4CB-F1F95371550E}" destId="{4A0D4FA0-EC44-41B4-8699-103443EF9FD0}" srcOrd="1" destOrd="0" presId="urn:microsoft.com/office/officeart/2005/8/layout/hierarchy1"/>
    <dgm:cxn modelId="{417ED3D4-C6F4-443E-B067-179BBDC69ECF}" type="presParOf" srcId="{A134E937-A22D-4302-BD6C-1A11881D763A}" destId="{B8AE18B4-F8AA-4EAA-A581-8EE30AAB39F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E15423-D1AE-4989-B1B2-F0E204604BA5}">
      <dsp:nvSpPr>
        <dsp:cNvPr id="0" name=""/>
        <dsp:cNvSpPr/>
      </dsp:nvSpPr>
      <dsp:spPr>
        <a:xfrm>
          <a:off x="0" y="110742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E128D-00BC-4F52-A2E8-3566F2506EDD}">
      <dsp:nvSpPr>
        <dsp:cNvPr id="0" name=""/>
        <dsp:cNvSpPr/>
      </dsp:nvSpPr>
      <dsp:spPr>
        <a:xfrm>
          <a:off x="235743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DAX Writing Overview</a:t>
          </a:r>
        </a:p>
      </dsp:txBody>
      <dsp:txXfrm>
        <a:off x="275203" y="1370840"/>
        <a:ext cx="2042773" cy="1268355"/>
      </dsp:txXfrm>
    </dsp:sp>
    <dsp:sp modelId="{247B7130-EF23-47E9-A830-EDF64D6E51F4}">
      <dsp:nvSpPr>
        <dsp:cNvPr id="0" name=""/>
        <dsp:cNvSpPr/>
      </dsp:nvSpPr>
      <dsp:spPr>
        <a:xfrm>
          <a:off x="2593181" y="110742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F48CF-52FD-4015-8514-C26A8BE78EEB}">
      <dsp:nvSpPr>
        <dsp:cNvPr id="0" name=""/>
        <dsp:cNvSpPr/>
      </dsp:nvSpPr>
      <dsp:spPr>
        <a:xfrm>
          <a:off x="2828925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Presented by: Balram Shah</a:t>
          </a:r>
        </a:p>
      </dsp:txBody>
      <dsp:txXfrm>
        <a:off x="2868385" y="1370840"/>
        <a:ext cx="2042773" cy="1268355"/>
      </dsp:txXfrm>
    </dsp:sp>
    <dsp:sp modelId="{D75B8155-F85F-4947-8375-8F3C0E01281B}">
      <dsp:nvSpPr>
        <dsp:cNvPr id="0" name=""/>
        <dsp:cNvSpPr/>
      </dsp:nvSpPr>
      <dsp:spPr>
        <a:xfrm>
          <a:off x="5186362" y="110742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D4FA0-EC44-41B4-8699-103443EF9FD0}">
      <dsp:nvSpPr>
        <dsp:cNvPr id="0" name=""/>
        <dsp:cNvSpPr/>
      </dsp:nvSpPr>
      <dsp:spPr>
        <a:xfrm>
          <a:off x="5422106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Project: Power BI Global Sales Analytics</a:t>
          </a:r>
        </a:p>
      </dsp:txBody>
      <dsp:txXfrm>
        <a:off x="5461566" y="1370840"/>
        <a:ext cx="2042773" cy="12683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872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7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300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5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6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7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7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76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0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2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31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GLOBAL SALES DASHBOARD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A312F42-D838-58FF-AA92-A2F13FA07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8041021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Total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98" y="1845734"/>
            <a:ext cx="7543801" cy="4023360"/>
          </a:xfrm>
        </p:spPr>
        <p:txBody>
          <a:bodyPr/>
          <a:lstStyle/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Visual: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Card – 16319K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DAX Formula:</a:t>
            </a:r>
          </a:p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= SUM(SALES_DATA[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])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Purpose: Calculates total revenue from all sales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Total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Visual: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 Card – 2K Count of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OrderID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DAX Formula:</a:t>
            </a:r>
          </a:p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TotalOrders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= DISTINCTCOUNT(SALES_DATA[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OrderID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])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Purpose: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Counts distinct orders for volume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Total Sales by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Visual: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 Area Chart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DAX Formula:</a:t>
            </a:r>
          </a:p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= SUM(SALES_DATA[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])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Purpose: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Highlights seasonal sales performance by quarter.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Total Sales by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Visual</a:t>
            </a: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Horizontal Bar Chart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DAX Formula:</a:t>
            </a:r>
          </a:p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= SUM(SALES_DATA[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])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Purpose: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Compares country-wise sales contribution.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Product Category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Visual: 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Pie Chart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DAX Formula:</a:t>
            </a:r>
          </a:p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= SUM(SALES_DATA[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])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Purpose: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Shows percentage share of Furniture, Office Supplies, Technology.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Customer Segment &amp; Product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Visual: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Clustered Bar Chart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DAX Formula:</a:t>
            </a:r>
          </a:p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= SUM(SALES_DATA[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TotalSales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])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Purpose: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Evaluates sales patterns based on customer and product types.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Unit Price by Country and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Visual: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Line Chart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DAX Formula:</a:t>
            </a:r>
          </a:p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AvgUnitPrice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= AVERAGE(SALES_DATA[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UnitPrice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])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Purpose: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Monitors average pricing trends across 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Unit Price by Quarter &amp;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Visual: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Line Chart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DAX Formula:</a:t>
            </a:r>
          </a:p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AvgUnitPrice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= AVERAGE(SALES_DATA[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UnitPrice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])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Purpose: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Analyzes pricing seasonality across months.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Unit Price by Product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Visual: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Area Chart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DAX Formula:</a:t>
            </a:r>
          </a:p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AvgUnitPrice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= AVERAGE(SALES_DATA[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UnitPrice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])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Purpose: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Compares product-level pricing differences.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Quantity by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Visual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Column Chart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DAX Formula:</a:t>
            </a:r>
          </a:p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TotalQuantity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= SUM(SALES_DATA[Quantity])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b="1" u="sng" dirty="0">
                <a:solidFill>
                  <a:schemeClr val="accent1">
                    <a:lumMod val="50000"/>
                  </a:schemeClr>
                </a:solidFill>
              </a:rPr>
              <a:t>Purpose: 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Tracks units sold month-wise for demand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All visuals use simple yet powerful DAX formulas.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Metrics like Total Sales, Orders, Unit Prices, and Quantities provide dynamic insights.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Segmented data helps identify best-performing markets, products, and times.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Presented by</a:t>
            </a:r>
            <a:r>
              <a:rPr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Balram</a:t>
            </a:r>
            <a:r>
              <a:rPr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Project: 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Hotel Revenue / Global Sales Dashboard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Tools: 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Power BI, DAX, Excel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369</TotalTime>
  <Words>397</Words>
  <Application>Microsoft Office PowerPoint</Application>
  <PresentationFormat>On-screen Show (4:3)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Retrospect</vt:lpstr>
      <vt:lpstr>GLOBAL SALES DASHBOARD</vt:lpstr>
      <vt:lpstr>Total Sales</vt:lpstr>
      <vt:lpstr>Total Orders</vt:lpstr>
      <vt:lpstr>Total Sales by Quarter</vt:lpstr>
      <vt:lpstr>Total Sales by Country</vt:lpstr>
      <vt:lpstr>Product Category Sales</vt:lpstr>
      <vt:lpstr>Customer Segment &amp; Product Category</vt:lpstr>
      <vt:lpstr>Unit Price by Country and Category</vt:lpstr>
      <vt:lpstr>Unit Price by Quarter &amp; Month</vt:lpstr>
      <vt:lpstr>Unit Price by Product Name</vt:lpstr>
      <vt:lpstr>Quantity by Month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Balram Shah</cp:lastModifiedBy>
  <cp:revision>7</cp:revision>
  <dcterms:created xsi:type="dcterms:W3CDTF">2013-01-27T09:14:16Z</dcterms:created>
  <dcterms:modified xsi:type="dcterms:W3CDTF">2025-10-27T05:08:10Z</dcterms:modified>
  <cp:category/>
</cp:coreProperties>
</file>